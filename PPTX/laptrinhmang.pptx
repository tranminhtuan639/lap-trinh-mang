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sldIdLst>
    <p:sldId id="258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92" d="100"/>
          <a:sy n="92" d="100"/>
        </p:scale>
        <p:origin x="140" y="68"/>
      </p:cViewPr>
      <p:guideLst>
        <p:guide orient="horz" pos="213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94688-FF66-437A-9C56-E440D40923E8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15313-722B-496F-AFE8-E513E013E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7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852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2FEA-1CE7-4718-3BD7-4A33B961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3796F-D78F-C9AE-4645-1AD2F25E1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3C6569-3B83-6DA2-0631-BF65D34AF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FE724-FC44-4B76-FFE7-4E8627D35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86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BC28B-BBBE-D029-EB41-5CC33332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6031E-BD60-E7C8-4D3F-E0E90C73F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08A58-F886-B49C-1020-C3B654C07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922B1-07F9-4182-0B7C-E4B212B82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020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7DAC-A6F4-48A1-7CAD-64C9D458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03CD4-F651-F645-87D4-C74BEE965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BBBE9-1F56-E8EE-48C2-8B9F5F1972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85745-0923-8DE2-80E9-4220BB5F0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03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E8174-D527-178D-4EC9-0CE885541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52335-DB31-C8E6-EEC5-57D70D26F4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BE03A-939E-9D36-66E5-E392D7E44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AFAD9-4F88-655D-704E-401FFEC24B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297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1D72-B183-F4E3-35D4-54B55E640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99849-5C3B-CC31-404E-5C765B7D4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D84FA-D7B5-933F-5495-5EFB62F96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D54ED-8B35-DB87-BA55-7CE9BB4A6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714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B9EFF-1774-B3DC-3859-028BDB07D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AFF0-1951-0E90-F69F-576006A88B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9BC7C-7387-E260-1A3C-7DB1F4C91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493EB-3BD3-35E5-9788-D4A80B978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155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24103-F6CC-E1A4-D352-50983BB4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66FE6-B8F7-0C1C-EA7E-1FC058E68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46295B-18E8-B996-7EDB-77242C609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52E82-33D4-B241-16DA-853B8C021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341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A8F4-2AD6-B684-D072-F4810755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6FB8A-5886-0890-2596-2717C61B1A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45B018-DBD6-1BBC-1013-068B2473E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A4122-C3BB-D43C-DAEA-67F9337E9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478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4815-BAEA-40E4-448F-3FFD409E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7F48B1-35FB-6E7F-EE9C-B88E0E408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87004-50A6-D5AC-A39C-9AF54671F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F7DAE-D249-FD42-A130-F000DD74CE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24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2407E-E029-FDF7-8BE1-A172A2A59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4E66F-439B-FBDF-C454-410E16632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6C268E-6050-7A35-1FD5-8D4FC0DDF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5E260-5166-F75E-7497-E63A4ACDC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328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921C7-774B-71C2-43A0-26DAA32A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C1508-5604-DB47-844D-098E196FB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57DE7-C98F-F0A3-228C-09448B77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0BA1A-4411-A295-CE65-2D365ECD3E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408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20060-64C5-FAF2-A2A9-529FF526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969BE-322C-5E34-711D-50F555B04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10DC4-618F-1907-5855-3B3D9F2F1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A8E9-00F0-4630-607D-965720E99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446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B64A7-1CA6-89A3-3E34-BAEB766E0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2CE98-44BA-7F01-5C84-ACFCE4783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9792B-ECF3-D274-408F-54E592425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F723C-89DF-2BB5-1F62-FCA932E25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409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4B51-F926-6945-436A-4E38D329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FE50F-83D2-4AAE-3B67-BCC3FED59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730D06-1131-D1A7-2D74-FDBAFA66A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BFD4D-7495-9E64-1D19-6CED7CC85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784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D0848-FEDA-91CA-C68C-4D4FE011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837297-2608-AE68-BF1B-7FE43329C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04396-EABE-63BC-6661-4A27B2463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E48A0-E9E1-F1F8-F99C-579BD63827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956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E7580-E4E1-DFBC-B2B0-4033AE0F7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3AF64-D084-2FD8-AE8E-48B22D3B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81CC2-6F8E-CC9B-470B-DA94ABFC5D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EDEF3-0501-04A8-B9A7-691653219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652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68C47-1BD4-0012-91EA-4B70A42C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3B598-D504-A8E3-5268-FB3CDE896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B6D91-0BA1-C6E8-1181-53E908995C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7EB9AF-B154-4743-500F-5E8D9E4B6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175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5081-04E9-D7DC-D111-D1AD18DF6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38BF1-CEAC-4034-5077-163CDA399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4DB005-FC80-EFA3-D446-906DD1ACE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17064-BDC6-E920-287D-5396510F52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8660E-CBE2-4647-BF49-0BA2166DFFD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682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C0000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8080"/>
                </a:solidFill>
                <a:latin typeface="Segoe UI Black" panose="020B0A02040204020203" pitchFamily="34" charset="0"/>
                <a:ea typeface="Segoe UI Black" panose="020B0A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40687-F0A6-4844-9D0E-4A71047B582E}" type="datetime1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5848B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/>
            </a:lvl1pPr>
            <a:lvl2pPr algn="just">
              <a:defRPr/>
            </a:lvl2pPr>
            <a:lvl3pPr algn="just">
              <a:defRPr/>
            </a:lvl3pPr>
            <a:lvl4pPr algn="just">
              <a:defRPr/>
            </a:lvl4pPr>
            <a:lvl5pPr algn="just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E0BBC2-331D-455A-8F34-6CACAAA7B272}" type="datetime1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10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823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96F3C-EA11-4B8E-A5D6-898715DAA61A}" type="datetime1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95130"/>
            <a:ext cx="5181600" cy="40818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95129"/>
            <a:ext cx="5181600" cy="40818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42CF6-A011-4145-8138-B18222BE784F}" type="datetime1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1857375"/>
            <a:ext cx="5157787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57375"/>
            <a:ext cx="5183188" cy="6477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76141-2144-4216-A5D8-625EEC9D46A7}" type="datetime1">
              <a:rPr lang="en-GB" smtClean="0"/>
              <a:t>12/04/2026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31884-8841-474E-B980-3663B77BB24B}" type="datetime1">
              <a:rPr lang="en-GB" smtClean="0"/>
              <a:t>12/04/2026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E740A-6F50-4770-9109-746EC93EBE8F}" type="datetime1">
              <a:rPr lang="en-GB" smtClean="0"/>
              <a:t>12/04/2026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987428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3542-D7FF-4C5D-BCD1-FC068661ADB1}" type="datetime1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70A37-54E1-46AB-854A-7F4CAEAC5932}" type="datetime1">
              <a:rPr lang="en-GB" smtClean="0"/>
              <a:t>12/04/2026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F13F3-5CA4-464A-A58E-B619976AB19A}" type="datetime1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6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6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203B-5407-419A-8A7D-10870893C35F}" type="datetime1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228232"/>
            <a:ext cx="10515600" cy="7674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75030"/>
            <a:ext cx="10515600" cy="4001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C18046E-BA9B-4548-A8AC-F9F2F702B23B}" type="datetime1">
              <a:rPr lang="en-GB" smtClean="0"/>
              <a:t>12/04/2026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GB"/>
              <a:t>KIẾN THỨC - KỸ NĂNG - SÁNG TẠO - HỘI NHẬP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A3D6EC1-CEF0-44B9-AC69-1554EEB371D5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 txBox="1"/>
          <p:nvPr/>
        </p:nvSpPr>
        <p:spPr>
          <a:xfrm>
            <a:off x="5344358" y="228539"/>
            <a:ext cx="6847642" cy="6890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sz="2400" b="1">
                <a:solidFill>
                  <a:srgbClr val="008080"/>
                </a:solidFill>
              </a:rPr>
              <a:t>TRƯỜNG ĐẠI HỌC GIAO THÔNG VẬN TẢI </a:t>
            </a:r>
            <a:br>
              <a:rPr lang="en-US" sz="2400" b="1">
                <a:solidFill>
                  <a:srgbClr val="008080"/>
                </a:solidFill>
              </a:rPr>
            </a:br>
            <a:r>
              <a:rPr lang="en-US" sz="2400" b="1">
                <a:solidFill>
                  <a:srgbClr val="008080"/>
                </a:solidFill>
              </a:rPr>
              <a:t>THÀNH PHỐ HỒ CHÍ MINH</a:t>
            </a:r>
            <a:endParaRPr lang="en-GB" sz="24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5848B"/>
          </a:solidFill>
          <a:latin typeface="Segoe UI Black" panose="020B0A02040204020203" pitchFamily="34" charset="0"/>
          <a:ea typeface="Segoe UI Black" panose="020B0A02040204020203" pitchFamily="34" charset="0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4046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vi-VN" sz="1200" dirty="0"/>
          </a:p>
        </p:txBody>
      </p:sp>
      <p:sp>
        <p:nvSpPr>
          <p:cNvPr id="3" name="TextBox 3"/>
          <p:cNvSpPr txBox="1"/>
          <p:nvPr/>
        </p:nvSpPr>
        <p:spPr>
          <a:xfrm>
            <a:off x="5405318" y="160338"/>
            <a:ext cx="6725722" cy="73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0"/>
              </a:lnSpc>
            </a:pPr>
            <a:r>
              <a:rPr lang="en-US" sz="2400" b="1" spc="22" dirty="0">
                <a:solidFill>
                  <a:srgbClr val="008080"/>
                </a:solidFill>
                <a:latin typeface="+mj-lt"/>
                <a:ea typeface="Arial Bold" panose="020B0802020202020204"/>
                <a:cs typeface="+mj-lt"/>
                <a:sym typeface="Arial Bold" panose="020B0802020202020204"/>
              </a:rPr>
              <a:t>TRƯỜNG ĐẠI HỌC GIAO THÔNG VẬN TẢI </a:t>
            </a:r>
          </a:p>
          <a:p>
            <a:pPr algn="ctr">
              <a:lnSpc>
                <a:spcPts val="2880"/>
              </a:lnSpc>
            </a:pPr>
            <a:r>
              <a:rPr lang="en-US" sz="2400" b="1" spc="22" dirty="0">
                <a:solidFill>
                  <a:srgbClr val="008080"/>
                </a:solidFill>
                <a:latin typeface="+mj-lt"/>
                <a:ea typeface="Arial Bold" panose="020B0802020202020204"/>
                <a:cs typeface="+mj-lt"/>
                <a:sym typeface="Arial Bold" panose="020B0802020202020204"/>
              </a:rPr>
              <a:t>THÀNH PHỐ HỒ CHÍ MINH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93281" y="1288489"/>
            <a:ext cx="2942233" cy="649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  <a:spcBef>
                <a:spcPct val="0"/>
              </a:spcBef>
            </a:pPr>
            <a:r>
              <a:rPr lang="en-US" sz="3855" b="1" dirty="0">
                <a:solidFill>
                  <a:srgbClr val="008080"/>
                </a:solidFill>
                <a:latin typeface="+mj-lt"/>
                <a:ea typeface="Arial Bold" panose="020B0802020202020204"/>
                <a:cs typeface="+mj-lt"/>
                <a:sym typeface="Arial Bold" panose="020B0802020202020204"/>
              </a:rPr>
              <a:t>ĐỀ TÀI 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8170" y="1938475"/>
            <a:ext cx="10781030" cy="38653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vi-VN" altLang="en-US" sz="3600" b="1" dirty="0">
                <a:solidFill>
                  <a:srgbClr val="000000"/>
                </a:solidFill>
                <a:latin typeface="+mj-lt"/>
                <a:ea typeface="Arial Bold" panose="020B0802020202020204"/>
                <a:cs typeface="+mj-lt"/>
                <a:sym typeface="Arial Bold" panose="020B0802020202020204"/>
              </a:rPr>
              <a:t> </a:t>
            </a:r>
            <a:r>
              <a:rPr lang="en-US" sz="4000" b="1" dirty="0"/>
              <a:t>LẬP TRÌNH ỨNG DỤNG CHAT (GUI) VIA TCP</a:t>
            </a:r>
            <a:endParaRPr lang="en-US" altLang="en-US" sz="4000" b="1" dirty="0">
              <a:solidFill>
                <a:srgbClr val="000000"/>
              </a:solidFill>
              <a:latin typeface="+mj-lt"/>
              <a:ea typeface="Arial Bold" panose="020B0802020202020204"/>
              <a:cs typeface="+mj-lt"/>
              <a:sym typeface="Arial Bold" panose="020B0802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58157" y="2807261"/>
            <a:ext cx="5353050" cy="4686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Giảng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viên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hướng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dẫn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 : </a:t>
            </a:r>
            <a:r>
              <a:rPr lang="vi-V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 panose="020B0802020202020204"/>
                <a:cs typeface="Times New Roman" panose="02020603050405020304" pitchFamily="18" charset="0"/>
                <a:sym typeface="Arial Bold" panose="020B0802020202020204"/>
              </a:rPr>
              <a:t>Mai Ngọc Châu</a:t>
            </a: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ea typeface="Arial Bold" panose="020B0802020202020204"/>
              <a:cs typeface="Times New Roman" panose="02020603050405020304" pitchFamily="18" charset="0"/>
              <a:sym typeface="Arial Bold" panose="020B0802020202020204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80981E-2A20-6836-441F-526F61FD1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183847"/>
              </p:ext>
            </p:extLst>
          </p:nvPr>
        </p:nvGraphicFramePr>
        <p:xfrm>
          <a:off x="1770682" y="3446759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262226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09572704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Thành Viên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15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Trần Minh Tuấn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vi-VN" sz="1600" b="1" dirty="0"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082206013432</a:t>
                      </a:r>
                      <a:endParaRPr lang="en-US" sz="1600" b="1" dirty="0">
                        <a:effectLst/>
                        <a:latin typeface="+mj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4572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Nguyễn Thị Đan Lê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040306026190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815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Trần Thị Quỳnh Liên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036306009850</a:t>
                      </a:r>
                      <a:endParaRPr 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250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Bùi Lê Phước Lộc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087206000384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264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Thái Doãn Mạnh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040206004894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62361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vi-VN" sz="1600" b="1" dirty="0">
                          <a:latin typeface="+mj-lt"/>
                        </a:rPr>
                        <a:t>Lê Văn Quân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600" b="1" kern="1200" dirty="0">
                          <a:solidFill>
                            <a:schemeClr val="dk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038204032801</a:t>
                      </a:r>
                      <a:endParaRPr lang="en-US" sz="1600" b="1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36813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2EC7FF-B506-980C-6BA5-52AD572882F1}"/>
              </a:ext>
            </a:extLst>
          </p:cNvPr>
          <p:cNvSpPr txBox="1"/>
          <p:nvPr/>
        </p:nvSpPr>
        <p:spPr>
          <a:xfrm>
            <a:off x="5019089" y="1259838"/>
            <a:ext cx="2153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/>
              <a:t>GIỚI THIỆU</a:t>
            </a:r>
            <a:endParaRPr lang="en-US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341993-8092-9DB3-0036-2F7950F509B9}"/>
              </a:ext>
            </a:extLst>
          </p:cNvPr>
          <p:cNvSpPr txBox="1"/>
          <p:nvPr/>
        </p:nvSpPr>
        <p:spPr>
          <a:xfrm>
            <a:off x="758614" y="2966217"/>
            <a:ext cx="43958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/>
              <a:t>- </a:t>
            </a:r>
            <a:r>
              <a:rPr lang="vi-VN" sz="2800" dirty="0">
                <a:latin typeface="+mj-lt"/>
              </a:rPr>
              <a:t>Ứng dụng thời gian thực</a:t>
            </a:r>
          </a:p>
          <a:p>
            <a:r>
              <a:rPr lang="vi-VN" sz="2800" dirty="0">
                <a:latin typeface="+mj-lt"/>
              </a:rPr>
              <a:t>- Sử dụng TCP/IP</a:t>
            </a:r>
          </a:p>
          <a:p>
            <a:r>
              <a:rPr lang="vi-VN" sz="2800" dirty="0">
                <a:latin typeface="+mj-lt"/>
              </a:rPr>
              <a:t>- Có giao diện GUI</a:t>
            </a:r>
          </a:p>
          <a:p>
            <a:r>
              <a:rPr lang="vi-VN" sz="2800" dirty="0">
                <a:latin typeface="+mj-lt"/>
              </a:rPr>
              <a:t>- Mô hình Client - Sever</a:t>
            </a:r>
            <a:endParaRPr lang="en-US" sz="2800" dirty="0">
              <a:latin typeface="+mj-lt"/>
            </a:endParaRPr>
          </a:p>
        </p:txBody>
      </p:sp>
      <p:pic>
        <p:nvPicPr>
          <p:cNvPr id="2050" name="Picture 2" descr="Chat Interface Application with Dialogue window. Clean Mobile UI Design Concept. Sms Messenger. Flat Web Icons">
            <a:extLst>
              <a:ext uri="{FF2B5EF4-FFF2-40B4-BE49-F238E27FC236}">
                <a16:creationId xmlns:a16="http://schemas.microsoft.com/office/drawing/2014/main" id="{F7A22A7A-EA23-EF90-C39E-8D5351C54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627" y="2150533"/>
            <a:ext cx="4937761" cy="3703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1CA2C-9F0E-4CD5-C654-8F0C17011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FC4544-5072-F5C1-11B5-26F18F7C3C97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CHỌN</a:t>
            </a:r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ĐỀ TÀI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50A5B-7FA1-4F15-2BDF-2AC3748EC7F1}"/>
              </a:ext>
            </a:extLst>
          </p:cNvPr>
          <p:cNvSpPr txBox="1"/>
          <p:nvPr/>
        </p:nvSpPr>
        <p:spPr>
          <a:xfrm>
            <a:off x="582506" y="2844297"/>
            <a:ext cx="45990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Nhu cầu chat cao</a:t>
            </a:r>
          </a:p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TCP đảm bảo ổn định</a:t>
            </a:r>
          </a:p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Kết hợp nhiều kiến thức</a:t>
            </a:r>
            <a:endParaRPr lang="en-US" sz="2800" dirty="0">
              <a:latin typeface="+mj-lt"/>
            </a:endParaRPr>
          </a:p>
        </p:txBody>
      </p:sp>
      <p:pic>
        <p:nvPicPr>
          <p:cNvPr id="3078" name="Picture 6" descr="Message bubbles chat, people online chatting, business concept vector illustration">
            <a:extLst>
              <a:ext uri="{FF2B5EF4-FFF2-40B4-BE49-F238E27FC236}">
                <a16:creationId xmlns:a16="http://schemas.microsoft.com/office/drawing/2014/main" id="{590BD839-646B-9C7C-7A04-5C98058A6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564" y="2311768"/>
            <a:ext cx="4599094" cy="30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01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7CF3-1224-3770-EBC1-55D659E2B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D4F47C-297A-A851-3904-FB3A2AA348D6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MỤC TIÊU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5696CD-CEED-C037-DDDF-442D44CDCDC4}"/>
              </a:ext>
            </a:extLst>
          </p:cNvPr>
          <p:cNvSpPr txBox="1"/>
          <p:nvPr/>
        </p:nvSpPr>
        <p:spPr>
          <a:xfrm>
            <a:off x="582506" y="2844297"/>
            <a:ext cx="4599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Xây dựng hệ thống chat</a:t>
            </a:r>
          </a:p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Gửi/nhận tin nhắn</a:t>
            </a:r>
          </a:p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Có GUI</a:t>
            </a:r>
          </a:p>
          <a:p>
            <a:pPr marL="457200" indent="-457200">
              <a:buFontTx/>
              <a:buChar char="-"/>
            </a:pPr>
            <a:r>
              <a:rPr lang="vi-VN" sz="2800" dirty="0">
                <a:latin typeface="+mj-lt"/>
              </a:rPr>
              <a:t>Hỗ trợ nhiều user</a:t>
            </a:r>
            <a:endParaRPr lang="en-US" sz="2800" dirty="0">
              <a:latin typeface="+mj-lt"/>
            </a:endParaRPr>
          </a:p>
        </p:txBody>
      </p:sp>
      <p:pic>
        <p:nvPicPr>
          <p:cNvPr id="3078" name="Picture 6" descr="Message bubbles chat, people online chatting, business concept vector illustration">
            <a:extLst>
              <a:ext uri="{FF2B5EF4-FFF2-40B4-BE49-F238E27FC236}">
                <a16:creationId xmlns:a16="http://schemas.microsoft.com/office/drawing/2014/main" id="{D00EAA29-9268-37D9-A28F-AEC9E4000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564" y="2311768"/>
            <a:ext cx="4599094" cy="308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84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2E454-39AA-2710-0EFC-F847A83F0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4ED4D9-52D7-C606-0467-3E663255D2C5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- SEVER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80B5E1-B0E7-D16E-25F8-1DEC33FF4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094" y="2067991"/>
            <a:ext cx="3302507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Client: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Server: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Giao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801F2-B93C-A602-5867-F936C886B5EC}"/>
              </a:ext>
            </a:extLst>
          </p:cNvPr>
          <p:cNvSpPr txBox="1"/>
          <p:nvPr/>
        </p:nvSpPr>
        <p:spPr>
          <a:xfrm>
            <a:off x="596052" y="416131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→ Server → Client</a:t>
            </a:r>
          </a:p>
        </p:txBody>
      </p:sp>
      <p:pic>
        <p:nvPicPr>
          <p:cNvPr id="10245" name="Picture 5" descr="Client Server Model Concept">
            <a:extLst>
              <a:ext uri="{FF2B5EF4-FFF2-40B4-BE49-F238E27FC236}">
                <a16:creationId xmlns:a16="http://schemas.microsoft.com/office/drawing/2014/main" id="{671298EA-51F8-CA5D-BF45-B049717F04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88" y="1916853"/>
            <a:ext cx="6113126" cy="407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025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2A9D1-86EB-4305-5149-BB0C77071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F48957-720D-8DF5-88C0-071032483092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TCP/IP là gì? Cấu trúc bộ mô hình giao thức TCP/IP">
            <a:extLst>
              <a:ext uri="{FF2B5EF4-FFF2-40B4-BE49-F238E27FC236}">
                <a16:creationId xmlns:a16="http://schemas.microsoft.com/office/drawing/2014/main" id="{1FACC54F-9F04-BFF0-4018-EAE9261BB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340" y="1869919"/>
            <a:ext cx="57150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A32C7A8C-C1B7-6538-9230-FF4C5EDF3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681" y="2383900"/>
            <a:ext cx="287931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vi-V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vi-VN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339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5647B-DEFE-1537-0C44-21ADF8A5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B023EB-0536-5F6E-291C-450275BC1C2B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VÀ UDP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163B2-3EE1-E53F-0424-5B15A45699D7}"/>
              </a:ext>
            </a:extLst>
          </p:cNvPr>
          <p:cNvSpPr txBox="1"/>
          <p:nvPr/>
        </p:nvSpPr>
        <p:spPr>
          <a:xfrm>
            <a:off x="582506" y="2844297"/>
            <a:ext cx="45990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TCP : ổn định, chậm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UDP : nhanh, không đảm bảo</a:t>
            </a:r>
            <a:endParaRPr lang="en-US" sz="2800" dirty="0"/>
          </a:p>
        </p:txBody>
      </p:sp>
      <p:pic>
        <p:nvPicPr>
          <p:cNvPr id="8194" name="Picture 2" descr="How the Internet Works: OSI Model, DNS, TCP vs. UDP, and Essential Concepts for Beginners - DEV Community">
            <a:extLst>
              <a:ext uri="{FF2B5EF4-FFF2-40B4-BE49-F238E27FC236}">
                <a16:creationId xmlns:a16="http://schemas.microsoft.com/office/drawing/2014/main" id="{EACEB1E2-961E-5DC2-F571-8EFF9FD83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983953"/>
            <a:ext cx="4511040" cy="3777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7934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D63CC-EC1F-EB96-39AD-E8225CAD6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51F319-DC3E-2248-C0A9-A5804D8ED3A9}"/>
              </a:ext>
            </a:extLst>
          </p:cNvPr>
          <p:cNvSpPr txBox="1"/>
          <p:nvPr/>
        </p:nvSpPr>
        <p:spPr>
          <a:xfrm>
            <a:off x="4016599" y="1248844"/>
            <a:ext cx="41588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 + ĐA LUỒNG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E1538-FC28-8849-7574-25BECBEBEB34}"/>
              </a:ext>
            </a:extLst>
          </p:cNvPr>
          <p:cNvSpPr txBox="1"/>
          <p:nvPr/>
        </p:nvSpPr>
        <p:spPr>
          <a:xfrm>
            <a:off x="582506" y="2844297"/>
            <a:ext cx="459909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Socket : gửi/nhận dữ liệu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Thread : xử lý nhiều Client</a:t>
            </a:r>
            <a:endParaRPr lang="en-US" sz="2800" dirty="0"/>
          </a:p>
        </p:txBody>
      </p:sp>
      <p:pic>
        <p:nvPicPr>
          <p:cNvPr id="7170" name="Picture 2" descr="10th ed. chapter 04">
            <a:extLst>
              <a:ext uri="{FF2B5EF4-FFF2-40B4-BE49-F238E27FC236}">
                <a16:creationId xmlns:a16="http://schemas.microsoft.com/office/drawing/2014/main" id="{D6E9EB33-4B78-1404-57F5-D791FD14A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760" y="2795302"/>
            <a:ext cx="5933440" cy="211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524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59CD9-B215-4312-8D4F-8B67E606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874821-70EA-000F-9CDD-0C165526F96A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LUỒNG HOẠT ĐỘNG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E39430-D1BF-A2B6-C767-5A7DABA05450}"/>
              </a:ext>
            </a:extLst>
          </p:cNvPr>
          <p:cNvSpPr txBox="1"/>
          <p:nvPr/>
        </p:nvSpPr>
        <p:spPr>
          <a:xfrm>
            <a:off x="582506" y="2844297"/>
            <a:ext cx="4991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User → Client → Server → Client</a:t>
            </a:r>
          </a:p>
        </p:txBody>
      </p:sp>
      <p:pic>
        <p:nvPicPr>
          <p:cNvPr id="6146" name="Picture 2" descr="Client Server: Context Level DFD (Zero Level) | PDF">
            <a:extLst>
              <a:ext uri="{FF2B5EF4-FFF2-40B4-BE49-F238E27FC236}">
                <a16:creationId xmlns:a16="http://schemas.microsoft.com/office/drawing/2014/main" id="{E0485A88-C61C-4E17-A961-5CA872128B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42" b="36098"/>
          <a:stretch>
            <a:fillRect/>
          </a:stretch>
        </p:blipFill>
        <p:spPr bwMode="auto">
          <a:xfrm>
            <a:off x="5680075" y="1777998"/>
            <a:ext cx="6063364" cy="4019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43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8673F-6440-1D18-BEEE-AEA005EF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8703A4-A42C-541D-B71E-A12BDE219508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5BDA2A-8093-0E64-48C3-AE2D85CD819A}"/>
              </a:ext>
            </a:extLst>
          </p:cNvPr>
          <p:cNvSpPr txBox="1"/>
          <p:nvPr/>
        </p:nvSpPr>
        <p:spPr>
          <a:xfrm>
            <a:off x="582506" y="2844297"/>
            <a:ext cx="45990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Nhận kết nối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Tạo thread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Broadcast tin nhắn</a:t>
            </a:r>
            <a:endParaRPr lang="en-US" sz="2800" dirty="0"/>
          </a:p>
        </p:txBody>
      </p:sp>
      <p:pic>
        <p:nvPicPr>
          <p:cNvPr id="4098" name="Picture 2" descr="Understanding Web Application Architectures: A Comprehensive Overview of Infrastructure Models and Components | by CAROLINE | Medium">
            <a:extLst>
              <a:ext uri="{FF2B5EF4-FFF2-40B4-BE49-F238E27FC236}">
                <a16:creationId xmlns:a16="http://schemas.microsoft.com/office/drawing/2014/main" id="{8FDC7B4D-9B44-E26F-CC65-B45E74999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5597" y="2167255"/>
            <a:ext cx="4943475" cy="329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6701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88A5-9F73-927F-4800-51532036F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E772FC-F54A-F233-3D1B-02766FBAADF0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+ GUI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06C1C-5BA3-D766-5426-3F7E9CB63167}"/>
              </a:ext>
            </a:extLst>
          </p:cNvPr>
          <p:cNvSpPr txBox="1"/>
          <p:nvPr/>
        </p:nvSpPr>
        <p:spPr>
          <a:xfrm>
            <a:off x="582506" y="2844297"/>
            <a:ext cx="45990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Nhập tin nhắn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Gửi sever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Hiển thị chat</a:t>
            </a:r>
            <a:endParaRPr lang="en-US" sz="2800" dirty="0"/>
          </a:p>
        </p:txBody>
      </p:sp>
      <p:pic>
        <p:nvPicPr>
          <p:cNvPr id="18434" name="Picture 2" descr="Desktop Chat Application User Interface With Empty Message Bubbles">
            <a:extLst>
              <a:ext uri="{FF2B5EF4-FFF2-40B4-BE49-F238E27FC236}">
                <a16:creationId xmlns:a16="http://schemas.microsoft.com/office/drawing/2014/main" id="{1AA3FFBD-2ED6-5FF2-25E9-9A70C4F9E2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" t="16905" r="3020" b="17461"/>
          <a:stretch>
            <a:fillRect/>
          </a:stretch>
        </p:blipFill>
        <p:spPr bwMode="auto">
          <a:xfrm>
            <a:off x="5266254" y="1915357"/>
            <a:ext cx="5506695" cy="385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335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43856-2EB0-7BB9-A19E-5482BC64D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0B1446-343A-1604-CAEE-342849302508}"/>
              </a:ext>
            </a:extLst>
          </p:cNvPr>
          <p:cNvSpPr txBox="1"/>
          <p:nvPr/>
        </p:nvSpPr>
        <p:spPr>
          <a:xfrm>
            <a:off x="4172398" y="1201430"/>
            <a:ext cx="3847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QUẢ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6B4CF-2B64-230A-0260-C0AA79A8FC0B}"/>
              </a:ext>
            </a:extLst>
          </p:cNvPr>
          <p:cNvSpPr txBox="1"/>
          <p:nvPr/>
        </p:nvSpPr>
        <p:spPr>
          <a:xfrm>
            <a:off x="582506" y="2844297"/>
            <a:ext cx="45990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Chat realtime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Nhiều user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Hoạt động ổn định</a:t>
            </a:r>
            <a:endParaRPr lang="en-US" sz="2800" dirty="0"/>
          </a:p>
        </p:txBody>
      </p:sp>
      <p:pic>
        <p:nvPicPr>
          <p:cNvPr id="17410" name="Picture 2" descr="Chat communication using the Internet, computer and person, online connection">
            <a:extLst>
              <a:ext uri="{FF2B5EF4-FFF2-40B4-BE49-F238E27FC236}">
                <a16:creationId xmlns:a16="http://schemas.microsoft.com/office/drawing/2014/main" id="{9A62DB4F-C089-8FAD-7864-B83BD6499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707" y="1961811"/>
            <a:ext cx="4870028" cy="357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00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D2211-C7C6-B618-B062-C0C001C60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1AB1D1-436C-BAF1-8DBB-950EA8818A95}"/>
              </a:ext>
            </a:extLst>
          </p:cNvPr>
          <p:cNvSpPr txBox="1"/>
          <p:nvPr/>
        </p:nvSpPr>
        <p:spPr>
          <a:xfrm>
            <a:off x="3677932" y="1201430"/>
            <a:ext cx="4836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THỬ NGHIỆM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3705E-703D-9A42-E717-B45440F71621}"/>
              </a:ext>
            </a:extLst>
          </p:cNvPr>
          <p:cNvSpPr txBox="1"/>
          <p:nvPr/>
        </p:nvSpPr>
        <p:spPr>
          <a:xfrm>
            <a:off x="352212" y="2505630"/>
            <a:ext cx="405722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server: </a:t>
            </a:r>
            <a:r>
              <a:rPr lang="en-US" dirty="0" err="1"/>
              <a:t>Tạo</a:t>
            </a:r>
            <a:r>
              <a:rPr lang="en-US" dirty="0"/>
              <a:t> Terminal </a:t>
            </a:r>
            <a:r>
              <a:rPr lang="en-US" dirty="0" err="1"/>
              <a:t>mới</a:t>
            </a:r>
            <a:r>
              <a:rPr lang="en-US" dirty="0"/>
              <a:t>,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Code/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tin server.py (</a:t>
            </a:r>
            <a:r>
              <a:rPr lang="en-US" dirty="0" err="1"/>
              <a:t>hoặc</a:t>
            </a:r>
            <a:r>
              <a:rPr lang="en-US" dirty="0"/>
              <a:t> main.py ở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server).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.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“Server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0.0.0.0:9999” </a:t>
            </a:r>
            <a:r>
              <a:rPr lang="en-US" dirty="0" err="1"/>
              <a:t>và</a:t>
            </a:r>
            <a:r>
              <a:rPr lang="en-US" dirty="0"/>
              <a:t> “</a:t>
            </a:r>
            <a:r>
              <a:rPr lang="en-US" dirty="0" err="1"/>
              <a:t>Chờ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...”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1C0CEC-CF0A-BDB7-2E74-37FD25A4DA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375" y="1915371"/>
            <a:ext cx="6827240" cy="363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2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16EAA-2DA5-D0BC-5E64-218D0CF09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C96B61-7C69-A047-99A7-F302D8BE2DA2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THỬ NGHIẸM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6A842-44BB-F564-5504-7C79DF7037B4}"/>
              </a:ext>
            </a:extLst>
          </p:cNvPr>
          <p:cNvSpPr txBox="1"/>
          <p:nvPr/>
        </p:nvSpPr>
        <p:spPr>
          <a:xfrm>
            <a:off x="745066" y="2139870"/>
            <a:ext cx="10857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Trong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Terminal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\Code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main.py.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hiển thị hộp thoại yêu cầu cấu hình mạng. Người dùng nhập IP 127.0.0.1, Port 9999 và Tên đăng nhập là 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0C4DE-15E6-F17B-011D-1D0D8F460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459" y="3286760"/>
            <a:ext cx="2382634" cy="24367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0D472B-84CA-E242-B735-B8E2A73E6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76" y="3282321"/>
            <a:ext cx="2382634" cy="24411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162505-D8B4-8518-BA9F-768B7283A7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42" y="3286760"/>
            <a:ext cx="2382634" cy="244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430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4CE2-A009-3E29-92F7-786E92A3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2D6EFAA-33A8-54B4-A4C2-EDB31847AC9A}"/>
              </a:ext>
            </a:extLst>
          </p:cNvPr>
          <p:cNvSpPr txBox="1"/>
          <p:nvPr/>
        </p:nvSpPr>
        <p:spPr>
          <a:xfrm>
            <a:off x="568959" y="2729150"/>
            <a:ext cx="26212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dirty="0"/>
              <a:t>Client kết nối thành công tới máy chủ. Ngay lập tức, Server ghi nhận log</a:t>
            </a:r>
            <a:r>
              <a:rPr lang="en-US" dirty="0"/>
              <a:t> “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vi-VN" dirty="0"/>
              <a:t> kết nối từ...</a:t>
            </a:r>
            <a:r>
              <a:rPr lang="en-US" dirty="0"/>
              <a:t>” </a:t>
            </a:r>
            <a:r>
              <a:rPr lang="vi-VN" dirty="0"/>
              <a:t>và in ra thông điệp [JOIN] </a:t>
            </a:r>
            <a:r>
              <a:rPr lang="en-US" dirty="0"/>
              <a:t>Alice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880519-38D2-CB2C-E2AD-891456766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398" y="1959609"/>
            <a:ext cx="7317716" cy="38857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3AA0BF-96B5-E3B6-4734-95AB7D1C62B7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THỬ NGHIẸM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847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BDFD0-C56B-62E9-E2CC-8CAA53D0B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D5F060-8534-91D9-DA89-6BD70F9D19C1}"/>
              </a:ext>
            </a:extLst>
          </p:cNvPr>
          <p:cNvSpPr txBox="1"/>
          <p:nvPr/>
        </p:nvSpPr>
        <p:spPr>
          <a:xfrm>
            <a:off x="653626" y="1963764"/>
            <a:ext cx="10884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Client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“Bob”.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“Bob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chat” ở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Alice </a:t>
            </a:r>
            <a:r>
              <a:rPr lang="en-US" dirty="0" err="1"/>
              <a:t>và</a:t>
            </a:r>
            <a:r>
              <a:rPr lang="en-US" dirty="0"/>
              <a:t> “Alice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chat” ở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sổ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Bob. </a:t>
            </a:r>
            <a:r>
              <a:rPr lang="vi-VN" dirty="0"/>
              <a:t>Server ghi nhận log "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…”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vi-VN" dirty="0"/>
              <a:t>và in ra thông điệp [JOIN] </a:t>
            </a:r>
            <a:r>
              <a:rPr lang="en-US" dirty="0"/>
              <a:t>Bob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B69DD73-389A-02E1-C8BB-7AA4B5B7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508" y="3187911"/>
            <a:ext cx="6166984" cy="31451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4A18C8-28E6-83DE-090E-DC9A0CAA61C0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THỬ NGHIẸM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555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3C8B-8A9E-1D45-9771-E84A5A6FE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CCBE47-A7F5-F5F3-E45A-73EBD1A21DB3}"/>
              </a:ext>
            </a:extLst>
          </p:cNvPr>
          <p:cNvSpPr txBox="1"/>
          <p:nvPr/>
        </p:nvSpPr>
        <p:spPr>
          <a:xfrm>
            <a:off x="447039" y="2072137"/>
            <a:ext cx="280416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: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Alice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cú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/quit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bấm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thoát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. Giao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Bob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“Alice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chat”.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luồng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Alice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.</a:t>
            </a:r>
          </a:p>
          <a:p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9261D6-C1B1-4461-6EFE-6C40C0CFEE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735" y="1972839"/>
            <a:ext cx="7251606" cy="38472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640815-4199-3C95-FE48-9C6DFCBDE157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QUÁ TRÌNH THỬ NGHIẸM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47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2D57C-ACB0-85E6-2E09-00690FBC0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D2EABE-8647-05DC-EA34-4709A88EA814}"/>
              </a:ext>
            </a:extLst>
          </p:cNvPr>
          <p:cNvSpPr txBox="1"/>
          <p:nvPr/>
        </p:nvSpPr>
        <p:spPr>
          <a:xfrm>
            <a:off x="751839" y="2871390"/>
            <a:ext cx="42062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Dính dữ liệu TCP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Tin nhắn bị lặp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GUI bị treo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7BEB4-5F95-947B-B2A2-85B94E90B018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KHÓ KHĂN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4" name="Picture 2" descr="Warning in a computer programming language">
            <a:extLst>
              <a:ext uri="{FF2B5EF4-FFF2-40B4-BE49-F238E27FC236}">
                <a16:creationId xmlns:a16="http://schemas.microsoft.com/office/drawing/2014/main" id="{A6F8F6ED-C4D4-9080-9810-CE5D6072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839" y="1657753"/>
            <a:ext cx="5091747" cy="424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79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FE2B-EFF8-598D-4ECB-5BECAEA42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9602C6-538F-0887-94BF-E90B499DEA0E}"/>
              </a:ext>
            </a:extLst>
          </p:cNvPr>
          <p:cNvSpPr txBox="1"/>
          <p:nvPr/>
        </p:nvSpPr>
        <p:spPr>
          <a:xfrm>
            <a:off x="697653" y="2736502"/>
            <a:ext cx="430106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Xây dựng thành công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Gửi nhận ổn định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GUI thân thiện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D5CEB-620B-1CF9-3F7F-6343425A70DD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ĐẠT ĐƯỢC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0" name="Picture 2" descr="Complete task concept, reach goal, achievement, happy character with check mark and checklist.">
            <a:extLst>
              <a:ext uri="{FF2B5EF4-FFF2-40B4-BE49-F238E27FC236}">
                <a16:creationId xmlns:a16="http://schemas.microsoft.com/office/drawing/2014/main" id="{B7F64A25-EAE3-A321-C77E-3EE03CDFC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693" y="2072137"/>
            <a:ext cx="3745654" cy="3745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213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5E0E6-3E7B-2846-778A-EA79DE5E4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73D4E4C-E9B4-DC31-63E2-2543FF1AF104}"/>
              </a:ext>
            </a:extLst>
          </p:cNvPr>
          <p:cNvSpPr txBox="1"/>
          <p:nvPr/>
        </p:nvSpPr>
        <p:spPr>
          <a:xfrm>
            <a:off x="386079" y="2844297"/>
            <a:ext cx="43078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vi-VN" sz="2800" dirty="0"/>
              <a:t>Hiểu TCP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Biết socket</a:t>
            </a:r>
          </a:p>
          <a:p>
            <a:pPr marL="457200" indent="-457200">
              <a:buFontTx/>
              <a:buChar char="-"/>
            </a:pPr>
            <a:r>
              <a:rPr lang="vi-VN" sz="2800" dirty="0"/>
              <a:t>Làm được app thực tế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55293-23E4-8BD5-84DF-30C5E998E534}"/>
              </a:ext>
            </a:extLst>
          </p:cNvPr>
          <p:cNvSpPr txBox="1"/>
          <p:nvPr/>
        </p:nvSpPr>
        <p:spPr>
          <a:xfrm>
            <a:off x="3698252" y="1134533"/>
            <a:ext cx="4795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KẾT LUẬN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6" name="Picture 2" descr="Check innovative idea vector icon symbol graphic isolated sign web icon design">
            <a:extLst>
              <a:ext uri="{FF2B5EF4-FFF2-40B4-BE49-F238E27FC236}">
                <a16:creationId xmlns:a16="http://schemas.microsoft.com/office/drawing/2014/main" id="{FA4EF207-99B7-FA02-1D0F-0FF519B71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920" y="1905000"/>
            <a:ext cx="3937000" cy="393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470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UTH-Slide-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UTH-Slide-Theme</Template>
  <TotalTime>673</TotalTime>
  <Words>599</Words>
  <Application>Microsoft Office PowerPoint</Application>
  <PresentationFormat>Widescreen</PresentationFormat>
  <Paragraphs>104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Segoe UI Black</vt:lpstr>
      <vt:lpstr>Times New Roman</vt:lpstr>
      <vt:lpstr>UTH-Slide-Theme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Tiến Kim Ngọc</dc:creator>
  <cp:lastModifiedBy>Quân Lê</cp:lastModifiedBy>
  <cp:revision>36</cp:revision>
  <dcterms:created xsi:type="dcterms:W3CDTF">2025-04-08T16:44:00Z</dcterms:created>
  <dcterms:modified xsi:type="dcterms:W3CDTF">2026-04-12T08:51:12Z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6D5D52327D90410990B9985078CFF12C_13</vt:lpwstr>
  </property>
  <property fmtid="{D5CDD505-2E9C-101B-9397-08002B2CF9AE}" pid="3" name="KSOProductBuildVer">
    <vt:lpwstr>1033-12.2.0.21179</vt:lpwstr>
  </property>
</Properties>
</file>